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06"/>
  </p:normalViewPr>
  <p:slideViewPr>
    <p:cSldViewPr snapToGrid="0" snapToObjects="1">
      <p:cViewPr varScale="1">
        <p:scale>
          <a:sx n="119" d="100"/>
          <a:sy n="119" d="100"/>
        </p:scale>
        <p:origin x="856" y="18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9/24/26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9/24/26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9/24/26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274320" y="2011680"/>
            <a:ext cx="6080760" cy="2999232"/>
          </a:xfrm>
          <a:prstGeom prst="roundRect">
            <a:avLst>
              <a:gd name="adj" fmla="val 5000"/>
            </a:avLst>
          </a:prstGeom>
          <a:solidFill>
            <a:srgbClr val="F1F5FA"/>
          </a:solidFill>
          <a:ln w="19050">
            <a:solidFill>
              <a:srgbClr val="E4EC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10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600" b="1">
                <a:solidFill>
                  <a:srgbClr val="102A43"/>
                </a:solidFill>
                <a:latin typeface="Arial"/>
              </a:rPr>
              <a:t>Problem Statement ID: </a:t>
            </a:r>
            <a:r>
              <a:rPr sz="1600" b="0">
                <a:solidFill>
                  <a:srgbClr val="1F2937"/>
                </a:solidFill>
                <a:latin typeface="Arial"/>
              </a:rPr>
              <a:t>SIH26104</a:t>
            </a:r>
          </a:p>
          <a:p>
            <a:pPr marL="285750" indent="-285750" algn="just">
              <a:lnSpc>
                <a:spcPct val="10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600" b="1">
                <a:solidFill>
                  <a:srgbClr val="102A43"/>
                </a:solidFill>
                <a:latin typeface="Arial"/>
              </a:rPr>
              <a:t>Problem Statement Title: </a:t>
            </a:r>
            <a:r>
              <a:rPr sz="1600" b="0">
                <a:solidFill>
                  <a:srgbClr val="1F2937"/>
                </a:solidFill>
                <a:latin typeface="Arial"/>
              </a:rPr>
              <a:t>AI-Powered Real-Time Detection and Prevention of Voice Cloning Impersonation Attacks</a:t>
            </a:r>
          </a:p>
          <a:p>
            <a:pPr marL="285750" indent="-285750" algn="just">
              <a:lnSpc>
                <a:spcPct val="10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600" b="1">
                <a:solidFill>
                  <a:srgbClr val="102A43"/>
                </a:solidFill>
                <a:latin typeface="Arial"/>
              </a:rPr>
              <a:t>Theme: </a:t>
            </a:r>
            <a:r>
              <a:rPr sz="1600" b="0">
                <a:solidFill>
                  <a:srgbClr val="1F2937"/>
                </a:solidFill>
                <a:latin typeface="Arial"/>
              </a:rPr>
              <a:t>Blockchain &amp; Cybersecurity</a:t>
            </a:r>
          </a:p>
          <a:p>
            <a:pPr marL="285750" indent="-285750" algn="just">
              <a:lnSpc>
                <a:spcPct val="10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600" b="1">
                <a:solidFill>
                  <a:srgbClr val="102A43"/>
                </a:solidFill>
                <a:latin typeface="Arial"/>
              </a:rPr>
              <a:t>PS Category: </a:t>
            </a:r>
            <a:r>
              <a:rPr sz="1600" b="0">
                <a:solidFill>
                  <a:srgbClr val="1F2937"/>
                </a:solidFill>
                <a:latin typeface="Arial"/>
              </a:rPr>
              <a:t>Software</a:t>
            </a:r>
          </a:p>
          <a:p>
            <a:pPr marL="285750" indent="-285750" algn="just">
              <a:lnSpc>
                <a:spcPct val="10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600" b="1">
                <a:solidFill>
                  <a:srgbClr val="102A43"/>
                </a:solidFill>
                <a:latin typeface="Arial"/>
              </a:rPr>
              <a:t>Team ID: </a:t>
            </a:r>
            <a:r>
              <a:rPr sz="1600" b="0">
                <a:solidFill>
                  <a:srgbClr val="1F2937"/>
                </a:solidFill>
                <a:latin typeface="Arial"/>
              </a:rPr>
              <a:t>[Team ID]</a:t>
            </a:r>
          </a:p>
          <a:p>
            <a:pPr marL="285750" indent="-285750" algn="just">
              <a:lnSpc>
                <a:spcPct val="10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sz="1600" b="1">
                <a:solidFill>
                  <a:srgbClr val="102A43"/>
                </a:solidFill>
                <a:latin typeface="Arial"/>
              </a:rPr>
              <a:t>Team Name: </a:t>
            </a:r>
            <a:r>
              <a:rPr sz="1600" b="0">
                <a:solidFill>
                  <a:srgbClr val="1F2937"/>
                </a:solidFill>
                <a:latin typeface="Arial"/>
              </a:rPr>
              <a:t>NoNsEnSe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783080" y="109728"/>
            <a:ext cx="7818120" cy="960120"/>
          </a:xfrm>
        </p:spPr>
        <p:txBody>
          <a:bodyPr/>
          <a:lstStyle/>
          <a:p>
            <a:pPr algn="ctr" eaLnBrk="1" hangingPunct="1"/>
            <a:r>
              <a:rPr sz="3200" b="1">
                <a:solidFill>
                  <a:srgbClr val="102A43"/>
                </a:solidFill>
                <a:latin typeface="Times New Roman"/>
              </a:rPr>
              <a:t>V-SHIELD</a:t>
            </a:r>
          </a:p>
          <a:p>
            <a:pPr algn="ctr"/>
            <a:r>
              <a:rPr sz="1200" b="0">
                <a:solidFill>
                  <a:srgbClr val="4B5563"/>
                </a:solidFill>
                <a:latin typeface="Arial"/>
              </a:rPr>
              <a:t>Real-time voice impersonation &amp; fraud-risk firewall for calls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102A43"/>
                </a:solidFill>
                <a:latin typeface="Arial"/>
              </a:rPr>
              <a:t>NoNsEnSe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411480" y="1261872"/>
            <a:ext cx="5486400" cy="237744"/>
          </a:xfrm>
          <a:prstGeom prst="rect">
            <a:avLst/>
          </a:prstGeom>
          <a:noFill/>
        </p:spPr>
        <p:txBody>
          <a:bodyPr wrap="square" lIns="0" tIns="27432" rIns="0" bIns="27432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50" b="1">
                <a:solidFill>
                  <a:srgbClr val="1D4E89"/>
                </a:solidFill>
                <a:latin typeface="Arial"/>
              </a:rPr>
              <a:t>HOW IT WORKS — EVERY CALL, EVERY FEW SECONDS</a:t>
            </a:r>
          </a:p>
        </p:txBody>
      </p:sp>
      <p:sp>
        <p:nvSpPr>
          <p:cNvPr id="15363" name="Rounded Rectangle 15362"/>
          <p:cNvSpPr/>
          <p:nvPr/>
        </p:nvSpPr>
        <p:spPr>
          <a:xfrm>
            <a:off x="411480" y="1938527"/>
            <a:ext cx="1417320" cy="749808"/>
          </a:xfrm>
          <a:prstGeom prst="roundRect">
            <a:avLst>
              <a:gd name="adj" fmla="val 14000"/>
            </a:avLst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95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Live call audio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900" b="0">
                <a:solidFill>
                  <a:srgbClr val="D9E2EC"/>
                </a:solidFill>
                <a:latin typeface="Arial"/>
              </a:rPr>
              <a:t>VoIP · mobile · Teams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2212848" y="1627632"/>
            <a:ext cx="1920240" cy="640080"/>
          </a:xfrm>
          <a:prstGeom prst="roundRect">
            <a:avLst>
              <a:gd name="adj" fmla="val 14000"/>
            </a:avLst>
          </a:prstGeom>
          <a:solidFill>
            <a:srgbClr val="F1F5FA"/>
          </a:solidFill>
          <a:ln w="15875">
            <a:solidFill>
              <a:srgbClr val="E4EC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" rIns="54864" bIns="27432" rtlCol="0" anchor="ctr"/>
          <a:lstStyle/>
          <a:p>
            <a:pPr algn="l">
              <a:lnSpc>
                <a:spcPct val="95000"/>
              </a:lnSpc>
              <a:spcAft>
                <a:spcPts val="100"/>
              </a:spcAft>
            </a:pPr>
            <a:r>
              <a:rPr sz="1050" b="1">
                <a:solidFill>
                  <a:srgbClr val="102A43"/>
                </a:solidFill>
                <a:latin typeface="Arial"/>
              </a:rPr>
              <a:t>Voice authenticity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>
                <a:solidFill>
                  <a:srgbClr val="4B5563"/>
                </a:solidFill>
                <a:latin typeface="Arial"/>
              </a:rPr>
              <a:t>Synthesis artefacts, phase, spectral cues</a:t>
            </a:r>
          </a:p>
        </p:txBody>
      </p:sp>
      <p:sp>
        <p:nvSpPr>
          <p:cNvPr id="15365" name="Oval 15364"/>
          <p:cNvSpPr/>
          <p:nvPr/>
        </p:nvSpPr>
        <p:spPr>
          <a:xfrm>
            <a:off x="2103120" y="1792224"/>
            <a:ext cx="310896" cy="310896"/>
          </a:xfrm>
          <a:prstGeom prst="ellipse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366" name="Rounded Rectangle 15365"/>
          <p:cNvSpPr/>
          <p:nvPr/>
        </p:nvSpPr>
        <p:spPr>
          <a:xfrm>
            <a:off x="4242816" y="1627632"/>
            <a:ext cx="1920240" cy="640080"/>
          </a:xfrm>
          <a:prstGeom prst="roundRect">
            <a:avLst>
              <a:gd name="adj" fmla="val 14000"/>
            </a:avLst>
          </a:prstGeom>
          <a:solidFill>
            <a:srgbClr val="F1F5FA"/>
          </a:solidFill>
          <a:ln w="15875">
            <a:solidFill>
              <a:srgbClr val="E4EC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" rIns="54864" bIns="27432" rtlCol="0" anchor="ctr"/>
          <a:lstStyle/>
          <a:p>
            <a:pPr algn="l">
              <a:lnSpc>
                <a:spcPct val="95000"/>
              </a:lnSpc>
              <a:spcAft>
                <a:spcPts val="100"/>
              </a:spcAft>
            </a:pPr>
            <a:r>
              <a:rPr sz="1050" b="1">
                <a:solidFill>
                  <a:srgbClr val="102A43"/>
                </a:solidFill>
                <a:latin typeface="Arial"/>
              </a:rPr>
              <a:t>Speaker identity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>
                <a:solidFill>
                  <a:srgbClr val="4B5563"/>
                </a:solidFill>
                <a:latin typeface="Arial"/>
              </a:rPr>
              <a:t>Embedding vs. enrolled genuine voice</a:t>
            </a:r>
          </a:p>
        </p:txBody>
      </p:sp>
      <p:sp>
        <p:nvSpPr>
          <p:cNvPr id="15367" name="Oval 15366"/>
          <p:cNvSpPr/>
          <p:nvPr/>
        </p:nvSpPr>
        <p:spPr>
          <a:xfrm>
            <a:off x="4133088" y="1792224"/>
            <a:ext cx="310896" cy="310896"/>
          </a:xfrm>
          <a:prstGeom prst="ellipse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5368" name="Rounded Rectangle 15367"/>
          <p:cNvSpPr/>
          <p:nvPr/>
        </p:nvSpPr>
        <p:spPr>
          <a:xfrm>
            <a:off x="2212848" y="2359152"/>
            <a:ext cx="1920240" cy="640080"/>
          </a:xfrm>
          <a:prstGeom prst="roundRect">
            <a:avLst>
              <a:gd name="adj" fmla="val 14000"/>
            </a:avLst>
          </a:prstGeom>
          <a:solidFill>
            <a:srgbClr val="F1F5FA"/>
          </a:solidFill>
          <a:ln w="15875">
            <a:solidFill>
              <a:srgbClr val="E4EC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" rIns="54864" bIns="27432" rtlCol="0" anchor="ctr"/>
          <a:lstStyle/>
          <a:p>
            <a:pPr algn="l">
              <a:lnSpc>
                <a:spcPct val="95000"/>
              </a:lnSpc>
              <a:spcAft>
                <a:spcPts val="100"/>
              </a:spcAft>
            </a:pPr>
            <a:r>
              <a:rPr sz="1050" b="1">
                <a:solidFill>
                  <a:srgbClr val="102A43"/>
                </a:solidFill>
                <a:latin typeface="Arial"/>
              </a:rPr>
              <a:t>Speech behaviour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>
                <a:solidFill>
                  <a:srgbClr val="4B5563"/>
                </a:solidFill>
                <a:latin typeface="Arial"/>
              </a:rPr>
              <a:t>Pitch, pace, pauses, response latency</a:t>
            </a:r>
          </a:p>
        </p:txBody>
      </p:sp>
      <p:sp>
        <p:nvSpPr>
          <p:cNvPr id="15369" name="Oval 15368"/>
          <p:cNvSpPr/>
          <p:nvPr/>
        </p:nvSpPr>
        <p:spPr>
          <a:xfrm>
            <a:off x="2103120" y="2523744"/>
            <a:ext cx="310896" cy="310896"/>
          </a:xfrm>
          <a:prstGeom prst="ellipse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370" name="Rounded Rectangle 15369"/>
          <p:cNvSpPr/>
          <p:nvPr/>
        </p:nvSpPr>
        <p:spPr>
          <a:xfrm>
            <a:off x="4242816" y="2359152"/>
            <a:ext cx="1920240" cy="640080"/>
          </a:xfrm>
          <a:prstGeom prst="roundRect">
            <a:avLst>
              <a:gd name="adj" fmla="val 14000"/>
            </a:avLst>
          </a:prstGeom>
          <a:solidFill>
            <a:srgbClr val="F1F5FA"/>
          </a:solidFill>
          <a:ln w="15875">
            <a:solidFill>
              <a:srgbClr val="E4EC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" rIns="54864" bIns="27432" rtlCol="0" anchor="ctr"/>
          <a:lstStyle/>
          <a:p>
            <a:pPr algn="l">
              <a:lnSpc>
                <a:spcPct val="95000"/>
              </a:lnSpc>
              <a:spcAft>
                <a:spcPts val="100"/>
              </a:spcAft>
            </a:pPr>
            <a:r>
              <a:rPr sz="1050" b="1">
                <a:solidFill>
                  <a:srgbClr val="102A43"/>
                </a:solidFill>
                <a:latin typeface="Arial"/>
              </a:rPr>
              <a:t>Call &amp; request context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>
                <a:solidFill>
                  <a:srgbClr val="4B5563"/>
                </a:solidFill>
                <a:latin typeface="Arial"/>
              </a:rPr>
              <a:t>Number, history, amount, urgency</a:t>
            </a:r>
          </a:p>
        </p:txBody>
      </p:sp>
      <p:sp>
        <p:nvSpPr>
          <p:cNvPr id="15371" name="Oval 15370"/>
          <p:cNvSpPr/>
          <p:nvPr/>
        </p:nvSpPr>
        <p:spPr>
          <a:xfrm>
            <a:off x="4133088" y="2523744"/>
            <a:ext cx="310896" cy="310896"/>
          </a:xfrm>
          <a:prstGeom prst="ellipse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cxnSp>
        <p:nvCxnSpPr>
          <p:cNvPr id="15372" name="Connector 15371"/>
          <p:cNvCxnSpPr/>
          <p:nvPr/>
        </p:nvCxnSpPr>
        <p:spPr>
          <a:xfrm flipV="1">
            <a:off x="1828800" y="1947672"/>
            <a:ext cx="274320" cy="365760"/>
          </a:xfrm>
          <a:prstGeom prst="bentConnector3">
            <a:avLst/>
          </a:prstGeom>
          <a:ln w="22225">
            <a:solidFill>
              <a:srgbClr val="1D4E8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73" name="Connector 15372"/>
          <p:cNvCxnSpPr/>
          <p:nvPr/>
        </p:nvCxnSpPr>
        <p:spPr>
          <a:xfrm>
            <a:off x="1828800" y="2313432"/>
            <a:ext cx="274320" cy="365760"/>
          </a:xfrm>
          <a:prstGeom prst="bentConnector3">
            <a:avLst/>
          </a:prstGeom>
          <a:ln w="22225">
            <a:solidFill>
              <a:srgbClr val="1D4E8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74" name="Rounded Rectangle 15373"/>
          <p:cNvSpPr/>
          <p:nvPr/>
        </p:nvSpPr>
        <p:spPr>
          <a:xfrm>
            <a:off x="6547104" y="1938527"/>
            <a:ext cx="1481328" cy="749808"/>
          </a:xfrm>
          <a:prstGeom prst="roundRect">
            <a:avLst>
              <a:gd name="adj" fmla="val 14000"/>
            </a:avLst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95000"/>
              </a:lnSpc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rial"/>
              </a:rPr>
              <a:t>Risk fusion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900" b="0">
                <a:solidFill>
                  <a:srgbClr val="E4ECF7"/>
                </a:solidFill>
                <a:latin typeface="Arial"/>
              </a:rPr>
              <a:t>Score 0–100, explainable</a:t>
            </a:r>
          </a:p>
        </p:txBody>
      </p:sp>
      <p:cxnSp>
        <p:nvCxnSpPr>
          <p:cNvPr id="15375" name="Connector 15374"/>
          <p:cNvCxnSpPr/>
          <p:nvPr/>
        </p:nvCxnSpPr>
        <p:spPr>
          <a:xfrm>
            <a:off x="6163056" y="1947672"/>
            <a:ext cx="384048" cy="365760"/>
          </a:xfrm>
          <a:prstGeom prst="bentConnector3">
            <a:avLst/>
          </a:prstGeom>
          <a:ln w="22225">
            <a:solidFill>
              <a:srgbClr val="1D4E8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76" name="Connector 15375"/>
          <p:cNvCxnSpPr/>
          <p:nvPr/>
        </p:nvCxnSpPr>
        <p:spPr>
          <a:xfrm flipV="1">
            <a:off x="6163056" y="2313432"/>
            <a:ext cx="384048" cy="365760"/>
          </a:xfrm>
          <a:prstGeom prst="bentConnector3">
            <a:avLst/>
          </a:prstGeom>
          <a:ln w="22225">
            <a:solidFill>
              <a:srgbClr val="1D4E8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77" name="Diamond 15376"/>
          <p:cNvSpPr/>
          <p:nvPr/>
        </p:nvSpPr>
        <p:spPr>
          <a:xfrm>
            <a:off x="8302752" y="1810511"/>
            <a:ext cx="1188720" cy="1005840"/>
          </a:xfrm>
          <a:prstGeom prst="diamond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rial"/>
              </a:rPr>
              <a:t>Risk above threshold?</a:t>
            </a:r>
          </a:p>
        </p:txBody>
      </p:sp>
      <p:cxnSp>
        <p:nvCxnSpPr>
          <p:cNvPr id="15378" name="Connector 15377"/>
          <p:cNvCxnSpPr/>
          <p:nvPr/>
        </p:nvCxnSpPr>
        <p:spPr>
          <a:xfrm>
            <a:off x="8028432" y="2313432"/>
            <a:ext cx="274320" cy="0"/>
          </a:xfrm>
          <a:prstGeom prst="line">
            <a:avLst/>
          </a:prstGeom>
          <a:ln w="22225">
            <a:solidFill>
              <a:srgbClr val="1D4E8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79" name="Rounded Rectangle 15378"/>
          <p:cNvSpPr/>
          <p:nvPr/>
        </p:nvSpPr>
        <p:spPr>
          <a:xfrm>
            <a:off x="9784080" y="1627632"/>
            <a:ext cx="1993391" cy="640080"/>
          </a:xfrm>
          <a:prstGeom prst="roundRect">
            <a:avLst>
              <a:gd name="adj" fmla="val 14000"/>
            </a:avLst>
          </a:prstGeom>
          <a:solidFill>
            <a:srgbClr val="E4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54864" bIns="27432" rtlCol="0" anchor="ctr"/>
          <a:lstStyle/>
          <a:p>
            <a:pPr algn="l">
              <a:lnSpc>
                <a:spcPct val="95000"/>
              </a:lnSpc>
              <a:spcAft>
                <a:spcPts val="100"/>
              </a:spcAft>
            </a:pPr>
            <a:r>
              <a:rPr sz="1050" b="1">
                <a:solidFill>
                  <a:srgbClr val="1D4E89"/>
                </a:solidFill>
                <a:latin typeface="Arial"/>
              </a:rPr>
              <a:t>LOW RISK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>
                <a:solidFill>
                  <a:srgbClr val="1F2937"/>
                </a:solidFill>
                <a:latin typeface="Arial"/>
              </a:rPr>
              <a:t>Call continues; score keeps updating</a:t>
            </a:r>
          </a:p>
        </p:txBody>
      </p:sp>
      <p:sp>
        <p:nvSpPr>
          <p:cNvPr id="15380" name="Rounded Rectangle 15379"/>
          <p:cNvSpPr/>
          <p:nvPr/>
        </p:nvSpPr>
        <p:spPr>
          <a:xfrm>
            <a:off x="9784080" y="2359152"/>
            <a:ext cx="1993391" cy="640080"/>
          </a:xfrm>
          <a:prstGeom prst="roundRect">
            <a:avLst>
              <a:gd name="adj" fmla="val 14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54864" bIns="27432" rtlCol="0" anchor="ctr"/>
          <a:lstStyle/>
          <a:p>
            <a:pPr algn="l">
              <a:lnSpc>
                <a:spcPct val="95000"/>
              </a:lnSpc>
              <a:spcAft>
                <a:spcPts val="10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HIGH RISK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Block action · challenge-response · call-back / MFA</a:t>
            </a:r>
          </a:p>
        </p:txBody>
      </p:sp>
      <p:cxnSp>
        <p:nvCxnSpPr>
          <p:cNvPr id="15381" name="Connector 15380"/>
          <p:cNvCxnSpPr/>
          <p:nvPr/>
        </p:nvCxnSpPr>
        <p:spPr>
          <a:xfrm flipV="1">
            <a:off x="9491472" y="1947672"/>
            <a:ext cx="292608" cy="365760"/>
          </a:xfrm>
          <a:prstGeom prst="bentConnector3">
            <a:avLst/>
          </a:prstGeom>
          <a:ln w="22225">
            <a:solidFill>
              <a:srgbClr val="1D4E8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82" name="Connector 15381"/>
          <p:cNvCxnSpPr/>
          <p:nvPr/>
        </p:nvCxnSpPr>
        <p:spPr>
          <a:xfrm>
            <a:off x="9491472" y="2313432"/>
            <a:ext cx="292608" cy="365760"/>
          </a:xfrm>
          <a:prstGeom prst="bentConnector3">
            <a:avLst/>
          </a:prstGeom>
          <a:ln w="22225">
            <a:solidFill>
              <a:srgbClr val="B91C1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83" name="TextBox 15382"/>
          <p:cNvSpPr txBox="1"/>
          <p:nvPr/>
        </p:nvSpPr>
        <p:spPr>
          <a:xfrm>
            <a:off x="9509760" y="1645920"/>
            <a:ext cx="292608" cy="182880"/>
          </a:xfrm>
          <a:prstGeom prst="rect">
            <a:avLst/>
          </a:prstGeom>
          <a:noFill/>
        </p:spPr>
        <p:txBody>
          <a:bodyPr wrap="square" lIns="0" tIns="27432" rIns="0" bIns="27432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00" b="1">
                <a:solidFill>
                  <a:srgbClr val="1D4E89"/>
                </a:solidFill>
                <a:latin typeface="Arial"/>
              </a:rPr>
              <a:t>No</a:t>
            </a:r>
          </a:p>
        </p:txBody>
      </p:sp>
      <p:sp>
        <p:nvSpPr>
          <p:cNvPr id="15384" name="TextBox 15383"/>
          <p:cNvSpPr txBox="1"/>
          <p:nvPr/>
        </p:nvSpPr>
        <p:spPr>
          <a:xfrm>
            <a:off x="9509760" y="2798064"/>
            <a:ext cx="292608" cy="182880"/>
          </a:xfrm>
          <a:prstGeom prst="rect">
            <a:avLst/>
          </a:prstGeom>
          <a:noFill/>
        </p:spPr>
        <p:txBody>
          <a:bodyPr wrap="square" lIns="0" tIns="27432" rIns="0" bIns="27432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800" b="1">
                <a:solidFill>
                  <a:srgbClr val="B91C1C"/>
                </a:solidFill>
                <a:latin typeface="Arial"/>
              </a:rPr>
              <a:t>Yes</a:t>
            </a:r>
          </a:p>
        </p:txBody>
      </p:sp>
      <p:sp>
        <p:nvSpPr>
          <p:cNvPr id="15385" name="TextBox 15384"/>
          <p:cNvSpPr txBox="1"/>
          <p:nvPr/>
        </p:nvSpPr>
        <p:spPr>
          <a:xfrm>
            <a:off x="411480" y="3200400"/>
            <a:ext cx="5486400" cy="237744"/>
          </a:xfrm>
          <a:prstGeom prst="rect">
            <a:avLst/>
          </a:prstGeom>
          <a:noFill/>
        </p:spPr>
        <p:txBody>
          <a:bodyPr wrap="square" lIns="0" tIns="27432" rIns="0" bIns="27432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50" b="1">
                <a:solidFill>
                  <a:srgbClr val="1D4E89"/>
                </a:solidFill>
                <a:latin typeface="Arial"/>
              </a:rPr>
              <a:t>WHY IT'S DIFFERENT</a:t>
            </a:r>
          </a:p>
        </p:txBody>
      </p:sp>
      <p:sp>
        <p:nvSpPr>
          <p:cNvPr id="15386" name="Rounded Rectangle 15385"/>
          <p:cNvSpPr/>
          <p:nvPr/>
        </p:nvSpPr>
        <p:spPr>
          <a:xfrm>
            <a:off x="411480" y="3511296"/>
            <a:ext cx="3666744" cy="1298448"/>
          </a:xfrm>
          <a:prstGeom prst="roundRect">
            <a:avLst>
              <a:gd name="adj" fmla="val 14000"/>
            </a:avLst>
          </a:prstGeom>
          <a:solidFill>
            <a:srgbClr val="E4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64592" bIns="27432" rtlCol="0" anchor="t"/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350" b="1">
                <a:solidFill>
                  <a:srgbClr val="102A43"/>
                </a:solidFill>
                <a:latin typeface="Arial"/>
              </a:rPr>
              <a:t>A risk score, not a yes/no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50" b="0">
                <a:solidFill>
                  <a:srgbClr val="1F2937"/>
                </a:solidFill>
                <a:latin typeface="Arial"/>
              </a:rPr>
              <a:t>Four independent signals fused live, so one fooled detector never decides alone</a:t>
            </a:r>
          </a:p>
        </p:txBody>
      </p:sp>
      <p:sp>
        <p:nvSpPr>
          <p:cNvPr id="15387" name="Rounded Rectangle 15386"/>
          <p:cNvSpPr/>
          <p:nvPr/>
        </p:nvSpPr>
        <p:spPr>
          <a:xfrm>
            <a:off x="4261104" y="3511296"/>
            <a:ext cx="3666744" cy="1298448"/>
          </a:xfrm>
          <a:prstGeom prst="roundRect">
            <a:avLst>
              <a:gd name="adj" fmla="val 14000"/>
            </a:avLst>
          </a:prstGeom>
          <a:solidFill>
            <a:srgbClr val="E4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64592" bIns="27432" rtlCol="0" anchor="t"/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350" b="1">
                <a:solidFill>
                  <a:srgbClr val="102A43"/>
                </a:solidFill>
                <a:latin typeface="Arial"/>
              </a:rPr>
              <a:t>Context catches what audio can't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50" b="0">
                <a:solidFill>
                  <a:srgbClr val="1F2937"/>
                </a:solidFill>
                <a:latin typeface="Arial"/>
              </a:rPr>
              <a:t>“Transfer ₹25 lakh now, don't call back” is flagged even if the voice sounds real</a:t>
            </a:r>
          </a:p>
        </p:txBody>
      </p:sp>
      <p:sp>
        <p:nvSpPr>
          <p:cNvPr id="15388" name="Rounded Rectangle 15387"/>
          <p:cNvSpPr/>
          <p:nvPr/>
        </p:nvSpPr>
        <p:spPr>
          <a:xfrm>
            <a:off x="8110727" y="3511296"/>
            <a:ext cx="3666744" cy="1298448"/>
          </a:xfrm>
          <a:prstGeom prst="roundRect">
            <a:avLst>
              <a:gd name="adj" fmla="val 14000"/>
            </a:avLst>
          </a:prstGeom>
          <a:solidFill>
            <a:srgbClr val="E4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64592" bIns="27432" rtlCol="0" anchor="t"/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1350" b="1">
                <a:solidFill>
                  <a:srgbClr val="102A43"/>
                </a:solidFill>
                <a:latin typeface="Arial"/>
              </a:rPr>
              <a:t>Verify before the money moves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50" b="0">
                <a:solidFill>
                  <a:srgbClr val="1F2937"/>
                </a:solidFill>
                <a:latin typeface="Arial"/>
              </a:rPr>
              <a:t>Suspicious calls trigger a challenge phrase or MFA instead of a hard block</a:t>
            </a:r>
          </a:p>
        </p:txBody>
      </p:sp>
      <p:sp>
        <p:nvSpPr>
          <p:cNvPr id="15389" name="Rounded Rectangle 15388"/>
          <p:cNvSpPr/>
          <p:nvPr/>
        </p:nvSpPr>
        <p:spPr>
          <a:xfrm>
            <a:off x="411480" y="5157216"/>
            <a:ext cx="3666744" cy="566928"/>
          </a:xfrm>
          <a:prstGeom prst="roundRect">
            <a:avLst>
              <a:gd name="adj" fmla="val 50000"/>
            </a:avLst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Banks &amp; NBFCs</a:t>
            </a:r>
          </a:p>
        </p:txBody>
      </p:sp>
      <p:sp>
        <p:nvSpPr>
          <p:cNvPr id="15390" name="Rounded Rectangle 15389"/>
          <p:cNvSpPr/>
          <p:nvPr/>
        </p:nvSpPr>
        <p:spPr>
          <a:xfrm>
            <a:off x="4261104" y="5157216"/>
            <a:ext cx="3666744" cy="566928"/>
          </a:xfrm>
          <a:prstGeom prst="roundRect">
            <a:avLst>
              <a:gd name="adj" fmla="val 50000"/>
            </a:avLst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Enterprise contact centres</a:t>
            </a:r>
          </a:p>
        </p:txBody>
      </p:sp>
      <p:sp>
        <p:nvSpPr>
          <p:cNvPr id="15391" name="Rounded Rectangle 15390"/>
          <p:cNvSpPr/>
          <p:nvPr/>
        </p:nvSpPr>
        <p:spPr>
          <a:xfrm>
            <a:off x="8110727" y="5157216"/>
            <a:ext cx="3666744" cy="566928"/>
          </a:xfrm>
          <a:prstGeom prst="roundRect">
            <a:avLst>
              <a:gd name="adj" fmla="val 50000"/>
            </a:avLst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Government · telecom operators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102A43"/>
                </a:solidFill>
                <a:latin typeface="Arial"/>
              </a:rPr>
              <a:t>NoNsEnSe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11480" y="1261872"/>
            <a:ext cx="5486400" cy="237744"/>
          </a:xfrm>
          <a:prstGeom prst="rect">
            <a:avLst/>
          </a:prstGeom>
          <a:noFill/>
        </p:spPr>
        <p:txBody>
          <a:bodyPr wrap="square" lIns="0" tIns="27432" rIns="0" bIns="27432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50" b="1">
                <a:solidFill>
                  <a:srgbClr val="1D4E89"/>
                </a:solidFill>
                <a:latin typeface="Arial"/>
              </a:rPr>
              <a:t>SYSTEM ARCHITECTURE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411480" y="1627632"/>
            <a:ext cx="6720840" cy="768096"/>
          </a:xfrm>
          <a:prstGeom prst="roundRect">
            <a:avLst>
              <a:gd name="adj" fmla="val 14000"/>
            </a:avLst>
          </a:prstGeom>
          <a:solidFill>
            <a:srgbClr val="F1F5FA"/>
          </a:solidFill>
          <a:ln w="15875">
            <a:solidFill>
              <a:srgbClr val="E4EC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endParaRPr/>
          </a:p>
        </p:txBody>
      </p:sp>
      <p:sp>
        <p:nvSpPr>
          <p:cNvPr id="17412" name="Rounded Rectangle 17411"/>
          <p:cNvSpPr/>
          <p:nvPr/>
        </p:nvSpPr>
        <p:spPr>
          <a:xfrm>
            <a:off x="539496" y="1764792"/>
            <a:ext cx="1572768" cy="493776"/>
          </a:xfrm>
          <a:prstGeom prst="roundRect">
            <a:avLst>
              <a:gd name="adj" fmla="val 18000"/>
            </a:avLst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CAPTURE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2258568" y="1719072"/>
            <a:ext cx="4709159" cy="585215"/>
          </a:xfrm>
          <a:prstGeom prst="rect">
            <a:avLst/>
          </a:prstGeom>
          <a:noFill/>
        </p:spPr>
        <p:txBody>
          <a:bodyPr wrap="square" lIns="0" tIns="27432" rIns="0" bIns="27432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00" b="0">
                <a:solidFill>
                  <a:srgbClr val="1F2937"/>
                </a:solidFill>
                <a:latin typeface="Arial"/>
              </a:rPr>
              <a:t>WebRTC / SIP tap · 3-second sliding windows · FastAPI + Redis buffer</a:t>
            </a:r>
          </a:p>
        </p:txBody>
      </p:sp>
      <p:sp>
        <p:nvSpPr>
          <p:cNvPr id="17414" name="Down Arrow 17413"/>
          <p:cNvSpPr/>
          <p:nvPr/>
        </p:nvSpPr>
        <p:spPr>
          <a:xfrm>
            <a:off x="1234440" y="2404872"/>
            <a:ext cx="182880" cy="109728"/>
          </a:xfrm>
          <a:prstGeom prst="downArrow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5" name="Rounded Rectangle 17414"/>
          <p:cNvSpPr/>
          <p:nvPr/>
        </p:nvSpPr>
        <p:spPr>
          <a:xfrm>
            <a:off x="411480" y="2523744"/>
            <a:ext cx="6720840" cy="768096"/>
          </a:xfrm>
          <a:prstGeom prst="roundRect">
            <a:avLst>
              <a:gd name="adj" fmla="val 14000"/>
            </a:avLst>
          </a:prstGeom>
          <a:solidFill>
            <a:srgbClr val="F1F5FA"/>
          </a:solidFill>
          <a:ln w="15875">
            <a:solidFill>
              <a:srgbClr val="E4EC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endParaRPr/>
          </a:p>
        </p:txBody>
      </p:sp>
      <p:sp>
        <p:nvSpPr>
          <p:cNvPr id="17416" name="Rounded Rectangle 17415"/>
          <p:cNvSpPr/>
          <p:nvPr/>
        </p:nvSpPr>
        <p:spPr>
          <a:xfrm>
            <a:off x="539496" y="2660903"/>
            <a:ext cx="1572768" cy="493776"/>
          </a:xfrm>
          <a:prstGeom prst="roundRect">
            <a:avLst>
              <a:gd name="adj" fmla="val 18000"/>
            </a:avLst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SIGNALS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2258568" y="2615184"/>
            <a:ext cx="4709159" cy="585215"/>
          </a:xfrm>
          <a:prstGeom prst="rect">
            <a:avLst/>
          </a:prstGeom>
          <a:noFill/>
        </p:spPr>
        <p:txBody>
          <a:bodyPr wrap="square" lIns="0" tIns="27432" rIns="0" bIns="27432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00" b="0">
                <a:solidFill>
                  <a:srgbClr val="1F2937"/>
                </a:solidFill>
                <a:latin typeface="Arial"/>
              </a:rPr>
              <a:t>LFCC / mel CNN synthetic detector · ECAPA speaker embeddings · prosody statistics</a:t>
            </a:r>
          </a:p>
        </p:txBody>
      </p:sp>
      <p:sp>
        <p:nvSpPr>
          <p:cNvPr id="17418" name="Down Arrow 17417"/>
          <p:cNvSpPr/>
          <p:nvPr/>
        </p:nvSpPr>
        <p:spPr>
          <a:xfrm>
            <a:off x="1234440" y="3300983"/>
            <a:ext cx="182880" cy="109728"/>
          </a:xfrm>
          <a:prstGeom prst="downArrow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19" name="Rounded Rectangle 17418"/>
          <p:cNvSpPr/>
          <p:nvPr/>
        </p:nvSpPr>
        <p:spPr>
          <a:xfrm>
            <a:off x="411480" y="3419856"/>
            <a:ext cx="6720840" cy="768096"/>
          </a:xfrm>
          <a:prstGeom prst="roundRect">
            <a:avLst>
              <a:gd name="adj" fmla="val 14000"/>
            </a:avLst>
          </a:prstGeom>
          <a:solidFill>
            <a:srgbClr val="F1F5FA"/>
          </a:solidFill>
          <a:ln w="15875">
            <a:solidFill>
              <a:srgbClr val="E4EC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endParaRPr/>
          </a:p>
        </p:txBody>
      </p:sp>
      <p:sp>
        <p:nvSpPr>
          <p:cNvPr id="17420" name="Rounded Rectangle 17419"/>
          <p:cNvSpPr/>
          <p:nvPr/>
        </p:nvSpPr>
        <p:spPr>
          <a:xfrm>
            <a:off x="539496" y="3557016"/>
            <a:ext cx="1572768" cy="493776"/>
          </a:xfrm>
          <a:prstGeom prst="roundRect">
            <a:avLst>
              <a:gd name="adj" fmla="val 18000"/>
            </a:avLst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CONTEXT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2258568" y="3511296"/>
            <a:ext cx="4709159" cy="585215"/>
          </a:xfrm>
          <a:prstGeom prst="rect">
            <a:avLst/>
          </a:prstGeom>
          <a:noFill/>
        </p:spPr>
        <p:txBody>
          <a:bodyPr wrap="square" lIns="0" tIns="27432" rIns="0" bIns="27432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00" b="0">
                <a:solidFill>
                  <a:srgbClr val="1F2937"/>
                </a:solidFill>
                <a:latin typeface="Arial"/>
              </a:rPr>
              <a:t>Caller number, call history, request type, amount, urgency cues (ASR + rules)</a:t>
            </a:r>
          </a:p>
        </p:txBody>
      </p:sp>
      <p:sp>
        <p:nvSpPr>
          <p:cNvPr id="17422" name="Down Arrow 17421"/>
          <p:cNvSpPr/>
          <p:nvPr/>
        </p:nvSpPr>
        <p:spPr>
          <a:xfrm>
            <a:off x="1234440" y="4197096"/>
            <a:ext cx="182880" cy="109728"/>
          </a:xfrm>
          <a:prstGeom prst="downArrow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3" name="Rounded Rectangle 17422"/>
          <p:cNvSpPr/>
          <p:nvPr/>
        </p:nvSpPr>
        <p:spPr>
          <a:xfrm>
            <a:off x="411480" y="4315968"/>
            <a:ext cx="6720840" cy="768096"/>
          </a:xfrm>
          <a:prstGeom prst="roundRect">
            <a:avLst>
              <a:gd name="adj" fmla="val 14000"/>
            </a:avLst>
          </a:prstGeom>
          <a:solidFill>
            <a:srgbClr val="F1F5FA"/>
          </a:solidFill>
          <a:ln w="15875">
            <a:solidFill>
              <a:srgbClr val="E4EC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endParaRPr/>
          </a:p>
        </p:txBody>
      </p:sp>
      <p:sp>
        <p:nvSpPr>
          <p:cNvPr id="17424" name="Rounded Rectangle 17423"/>
          <p:cNvSpPr/>
          <p:nvPr/>
        </p:nvSpPr>
        <p:spPr>
          <a:xfrm>
            <a:off x="539496" y="4453128"/>
            <a:ext cx="1572768" cy="493776"/>
          </a:xfrm>
          <a:prstGeom prst="roundRect">
            <a:avLst>
              <a:gd name="adj" fmla="val 18000"/>
            </a:avLst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FUSION &amp; ALERT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2258568" y="4407407"/>
            <a:ext cx="4709159" cy="585215"/>
          </a:xfrm>
          <a:prstGeom prst="rect">
            <a:avLst/>
          </a:prstGeom>
          <a:noFill/>
        </p:spPr>
        <p:txBody>
          <a:bodyPr wrap="square" lIns="0" tIns="27432" rIns="0" bIns="27432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00" b="0">
                <a:solidFill>
                  <a:srgbClr val="1F2937"/>
                </a:solidFill>
                <a:latin typeface="Arial"/>
              </a:rPr>
              <a:t>Weighted / gradient-boosted fusion → 0–100 · signal-level explanation · SIEM webhooks</a:t>
            </a:r>
          </a:p>
        </p:txBody>
      </p:sp>
      <p:sp>
        <p:nvSpPr>
          <p:cNvPr id="17426" name="Down Arrow 17425"/>
          <p:cNvSpPr/>
          <p:nvPr/>
        </p:nvSpPr>
        <p:spPr>
          <a:xfrm>
            <a:off x="1234440" y="5093207"/>
            <a:ext cx="182880" cy="109728"/>
          </a:xfrm>
          <a:prstGeom prst="downArrow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7" name="Rounded Rectangle 17426"/>
          <p:cNvSpPr/>
          <p:nvPr/>
        </p:nvSpPr>
        <p:spPr>
          <a:xfrm>
            <a:off x="411480" y="5212080"/>
            <a:ext cx="6720840" cy="768096"/>
          </a:xfrm>
          <a:prstGeom prst="roundRect">
            <a:avLst>
              <a:gd name="adj" fmla="val 14000"/>
            </a:avLst>
          </a:prstGeom>
          <a:solidFill>
            <a:srgbClr val="F1F5FA"/>
          </a:solidFill>
          <a:ln w="15875">
            <a:solidFill>
              <a:srgbClr val="E4EC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endParaRPr/>
          </a:p>
        </p:txBody>
      </p:sp>
      <p:sp>
        <p:nvSpPr>
          <p:cNvPr id="17428" name="Rounded Rectangle 17427"/>
          <p:cNvSpPr/>
          <p:nvPr/>
        </p:nvSpPr>
        <p:spPr>
          <a:xfrm>
            <a:off x="539496" y="5349240"/>
            <a:ext cx="1572768" cy="493776"/>
          </a:xfrm>
          <a:prstGeom prst="roundRect">
            <a:avLst>
              <a:gd name="adj" fmla="val 18000"/>
            </a:avLst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PRIVACY &amp; APIs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2258568" y="5303520"/>
            <a:ext cx="4709159" cy="585215"/>
          </a:xfrm>
          <a:prstGeom prst="rect">
            <a:avLst/>
          </a:prstGeom>
          <a:noFill/>
        </p:spPr>
        <p:txBody>
          <a:bodyPr wrap="square" lIns="0" tIns="27432" rIns="0" bIns="27432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00" b="0">
                <a:solidFill>
                  <a:srgbClr val="1F2937"/>
                </a:solidFill>
                <a:latin typeface="Arial"/>
              </a:rPr>
              <a:t>Edge inference · feature-only logs, no raw audio · REST / gRPC SDK · Indic-language models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7498079" y="1261872"/>
            <a:ext cx="4206240" cy="237744"/>
          </a:xfrm>
          <a:prstGeom prst="rect">
            <a:avLst/>
          </a:prstGeom>
          <a:noFill/>
        </p:spPr>
        <p:txBody>
          <a:bodyPr wrap="square" lIns="0" tIns="27432" rIns="0" bIns="27432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50" b="1">
                <a:solidFill>
                  <a:srgbClr val="1D4E89"/>
                </a:solidFill>
                <a:latin typeface="Arial"/>
              </a:rPr>
              <a:t>REAL-TIME SCORING LOOP</a:t>
            </a:r>
          </a:p>
        </p:txBody>
      </p:sp>
      <p:sp>
        <p:nvSpPr>
          <p:cNvPr id="17431" name="Rounded Rectangle 17430"/>
          <p:cNvSpPr/>
          <p:nvPr/>
        </p:nvSpPr>
        <p:spPr>
          <a:xfrm>
            <a:off x="7498079" y="1627632"/>
            <a:ext cx="4279392" cy="512064"/>
          </a:xfrm>
          <a:prstGeom prst="roundRect">
            <a:avLst>
              <a:gd name="adj" fmla="val 14000"/>
            </a:avLst>
          </a:prstGeom>
          <a:solidFill>
            <a:srgbClr val="E4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100" b="1">
                <a:solidFill>
                  <a:srgbClr val="102A43"/>
                </a:solidFill>
                <a:latin typeface="Arial"/>
              </a:rPr>
              <a:t>Next 3-s audio window</a:t>
            </a:r>
          </a:p>
        </p:txBody>
      </p:sp>
      <p:sp>
        <p:nvSpPr>
          <p:cNvPr id="17432" name="Down Arrow 17431"/>
          <p:cNvSpPr/>
          <p:nvPr/>
        </p:nvSpPr>
        <p:spPr>
          <a:xfrm>
            <a:off x="9546336" y="2157984"/>
            <a:ext cx="182880" cy="201168"/>
          </a:xfrm>
          <a:prstGeom prst="downArrow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3" name="Rounded Rectangle 17432"/>
          <p:cNvSpPr/>
          <p:nvPr/>
        </p:nvSpPr>
        <p:spPr>
          <a:xfrm>
            <a:off x="7498079" y="2377440"/>
            <a:ext cx="4279392" cy="512064"/>
          </a:xfrm>
          <a:prstGeom prst="roundRect">
            <a:avLst>
              <a:gd name="adj" fmla="val 14000"/>
            </a:avLst>
          </a:prstGeom>
          <a:solidFill>
            <a:srgbClr val="E4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100" b="1">
                <a:solidFill>
                  <a:srgbClr val="102A43"/>
                </a:solidFill>
                <a:latin typeface="Arial"/>
              </a:rPr>
              <a:t>Extract features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850" b="0">
                <a:solidFill>
                  <a:srgbClr val="4B5563"/>
                </a:solidFill>
                <a:latin typeface="Arial"/>
              </a:rPr>
              <a:t>mel / LFCC · embedding · prosody · ASR text</a:t>
            </a:r>
          </a:p>
        </p:txBody>
      </p:sp>
      <p:sp>
        <p:nvSpPr>
          <p:cNvPr id="17434" name="Down Arrow 17433"/>
          <p:cNvSpPr/>
          <p:nvPr/>
        </p:nvSpPr>
        <p:spPr>
          <a:xfrm>
            <a:off x="9546336" y="2907792"/>
            <a:ext cx="182880" cy="201168"/>
          </a:xfrm>
          <a:prstGeom prst="downArrow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5" name="Rounded Rectangle 17434"/>
          <p:cNvSpPr/>
          <p:nvPr/>
        </p:nvSpPr>
        <p:spPr>
          <a:xfrm>
            <a:off x="7498079" y="3127248"/>
            <a:ext cx="4279392" cy="512064"/>
          </a:xfrm>
          <a:prstGeom prst="roundRect">
            <a:avLst>
              <a:gd name="adj" fmla="val 14000"/>
            </a:avLst>
          </a:prstGeom>
          <a:solidFill>
            <a:srgbClr val="E4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100" b="1">
                <a:solidFill>
                  <a:srgbClr val="102A43"/>
                </a:solidFill>
                <a:latin typeface="Arial"/>
              </a:rPr>
              <a:t>Score 4 signals in parallel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850" b="0">
                <a:solidFill>
                  <a:srgbClr val="4B5563"/>
                </a:solidFill>
                <a:latin typeface="Arial"/>
              </a:rPr>
              <a:t>A · S · B · C</a:t>
            </a:r>
          </a:p>
        </p:txBody>
      </p:sp>
      <p:sp>
        <p:nvSpPr>
          <p:cNvPr id="17436" name="Down Arrow 17435"/>
          <p:cNvSpPr/>
          <p:nvPr/>
        </p:nvSpPr>
        <p:spPr>
          <a:xfrm>
            <a:off x="9546336" y="3657600"/>
            <a:ext cx="182880" cy="201168"/>
          </a:xfrm>
          <a:prstGeom prst="downArrow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7" name="Rounded Rectangle 17436"/>
          <p:cNvSpPr/>
          <p:nvPr/>
        </p:nvSpPr>
        <p:spPr>
          <a:xfrm>
            <a:off x="7498079" y="3877056"/>
            <a:ext cx="4279392" cy="512064"/>
          </a:xfrm>
          <a:prstGeom prst="roundRect">
            <a:avLst>
              <a:gd name="adj" fmla="val 14000"/>
            </a:avLst>
          </a:prstGeom>
          <a:solidFill>
            <a:srgbClr val="E4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100" b="1">
                <a:solidFill>
                  <a:srgbClr val="102A43"/>
                </a:solidFill>
                <a:latin typeface="Arial"/>
              </a:rPr>
              <a:t>Fuse into risk R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850" b="0">
                <a:solidFill>
                  <a:srgbClr val="4B5563"/>
                </a:solidFill>
                <a:latin typeface="Arial"/>
              </a:rPr>
              <a:t>R = w₁A + w₂S + w₃B + w₄C</a:t>
            </a:r>
          </a:p>
        </p:txBody>
      </p:sp>
      <p:sp>
        <p:nvSpPr>
          <p:cNvPr id="17438" name="Down Arrow 17437"/>
          <p:cNvSpPr/>
          <p:nvPr/>
        </p:nvSpPr>
        <p:spPr>
          <a:xfrm>
            <a:off x="9546336" y="4407408"/>
            <a:ext cx="182880" cy="201168"/>
          </a:xfrm>
          <a:prstGeom prst="downArrow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9" name="Diamond 17438"/>
          <p:cNvSpPr/>
          <p:nvPr/>
        </p:nvSpPr>
        <p:spPr>
          <a:xfrm>
            <a:off x="8906255" y="4626864"/>
            <a:ext cx="1463040" cy="914400"/>
          </a:xfrm>
          <a:prstGeom prst="diamond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R ≥ threshold?</a:t>
            </a:r>
          </a:p>
        </p:txBody>
      </p:sp>
      <p:sp>
        <p:nvSpPr>
          <p:cNvPr id="17440" name="Rounded Rectangle 17439"/>
          <p:cNvSpPr/>
          <p:nvPr/>
        </p:nvSpPr>
        <p:spPr>
          <a:xfrm>
            <a:off x="7498079" y="4782312"/>
            <a:ext cx="1188720" cy="603504"/>
          </a:xfrm>
          <a:prstGeom prst="roundRect">
            <a:avLst>
              <a:gd name="adj" fmla="val 14000"/>
            </a:avLst>
          </a:prstGeom>
          <a:solidFill>
            <a:srgbClr val="F1F5FA"/>
          </a:solidFill>
          <a:ln w="15875">
            <a:solidFill>
              <a:srgbClr val="E4EC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000" b="1">
                <a:solidFill>
                  <a:srgbClr val="1D4E89"/>
                </a:solidFill>
                <a:latin typeface="Arial"/>
              </a:rPr>
              <a:t>No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850" b="0">
                <a:solidFill>
                  <a:srgbClr val="1F2937"/>
                </a:solidFill>
                <a:latin typeface="Arial"/>
              </a:rPr>
              <a:t>Keep listening</a:t>
            </a:r>
          </a:p>
        </p:txBody>
      </p:sp>
      <p:sp>
        <p:nvSpPr>
          <p:cNvPr id="17441" name="Rounded Rectangle 17440"/>
          <p:cNvSpPr/>
          <p:nvPr/>
        </p:nvSpPr>
        <p:spPr>
          <a:xfrm>
            <a:off x="10588751" y="4782312"/>
            <a:ext cx="1188720" cy="603504"/>
          </a:xfrm>
          <a:prstGeom prst="roundRect">
            <a:avLst>
              <a:gd name="adj" fmla="val 14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95000"/>
              </a:lnSpc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Yes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Alert + challenge</a:t>
            </a:r>
          </a:p>
        </p:txBody>
      </p:sp>
      <p:cxnSp>
        <p:nvCxnSpPr>
          <p:cNvPr id="17442" name="Connector 17441"/>
          <p:cNvCxnSpPr/>
          <p:nvPr/>
        </p:nvCxnSpPr>
        <p:spPr>
          <a:xfrm flipH="1">
            <a:off x="8686800" y="5084064"/>
            <a:ext cx="219455" cy="0"/>
          </a:xfrm>
          <a:prstGeom prst="line">
            <a:avLst/>
          </a:prstGeom>
          <a:ln w="22225">
            <a:solidFill>
              <a:srgbClr val="1D4E8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43" name="Connector 17442"/>
          <p:cNvCxnSpPr/>
          <p:nvPr/>
        </p:nvCxnSpPr>
        <p:spPr>
          <a:xfrm>
            <a:off x="10369295" y="5084064"/>
            <a:ext cx="219456" cy="0"/>
          </a:xfrm>
          <a:prstGeom prst="line">
            <a:avLst/>
          </a:prstGeom>
          <a:ln w="22225">
            <a:solidFill>
              <a:srgbClr val="B91C1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44" name="TextBox 17443"/>
          <p:cNvSpPr txBox="1"/>
          <p:nvPr/>
        </p:nvSpPr>
        <p:spPr>
          <a:xfrm>
            <a:off x="7498079" y="5413248"/>
            <a:ext cx="1188720" cy="201168"/>
          </a:xfrm>
          <a:prstGeom prst="rect">
            <a:avLst/>
          </a:prstGeom>
          <a:noFill/>
        </p:spPr>
        <p:txBody>
          <a:bodyPr wrap="square" lIns="0" tIns="27432" rIns="0" bIns="27432" anchor="t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800" b="0">
                <a:solidFill>
                  <a:srgbClr val="4B5563"/>
                </a:solidFill>
                <a:latin typeface="Arial"/>
              </a:rPr>
              <a:t>↺ next window</a:t>
            </a:r>
          </a:p>
        </p:txBody>
      </p:sp>
      <p:sp>
        <p:nvSpPr>
          <p:cNvPr id="17445" name="Rounded Rectangle 17444"/>
          <p:cNvSpPr/>
          <p:nvPr/>
        </p:nvSpPr>
        <p:spPr>
          <a:xfrm>
            <a:off x="7498079" y="5742432"/>
            <a:ext cx="4279392" cy="457200"/>
          </a:xfrm>
          <a:prstGeom prst="roundRect">
            <a:avLst>
              <a:gd name="adj" fmla="val 25000"/>
            </a:avLst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Arial"/>
              </a:rPr>
              <a:t>0–30 low  ·  30–60 medium  ·  60–80 high  ·  80–100 critical → verify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102A43"/>
                </a:solidFill>
                <a:latin typeface="Arial"/>
              </a:rPr>
              <a:t>NoNsEnSe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11480" y="1261872"/>
            <a:ext cx="5029200" cy="237744"/>
          </a:xfrm>
          <a:prstGeom prst="rect">
            <a:avLst/>
          </a:prstGeom>
          <a:noFill/>
        </p:spPr>
        <p:txBody>
          <a:bodyPr wrap="square" lIns="0" tIns="27432" rIns="0" bIns="27432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50" b="1">
                <a:solidFill>
                  <a:srgbClr val="1D4E89"/>
                </a:solidFill>
                <a:latin typeface="Arial"/>
              </a:rPr>
              <a:t>WHY IT'S FEASIBLE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411480" y="1664208"/>
            <a:ext cx="5440680" cy="1143000"/>
          </a:xfrm>
          <a:prstGeom prst="roundRect">
            <a:avLst>
              <a:gd name="adj" fmla="val 14000"/>
            </a:avLst>
          </a:prstGeom>
          <a:solidFill>
            <a:srgbClr val="F1F5FA"/>
          </a:solidFill>
          <a:ln w="15875">
            <a:solidFill>
              <a:srgbClr val="E4EC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endParaRPr/>
          </a:p>
        </p:txBody>
      </p:sp>
      <p:sp>
        <p:nvSpPr>
          <p:cNvPr id="17412" name="Oval 17411"/>
          <p:cNvSpPr/>
          <p:nvPr/>
        </p:nvSpPr>
        <p:spPr>
          <a:xfrm>
            <a:off x="649224" y="2029968"/>
            <a:ext cx="420624" cy="420624"/>
          </a:xfrm>
          <a:prstGeom prst="ellipse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1234440" y="1847088"/>
            <a:ext cx="4389120" cy="822960"/>
          </a:xfrm>
          <a:prstGeom prst="rect">
            <a:avLst/>
          </a:prstGeom>
          <a:noFill/>
        </p:spPr>
        <p:txBody>
          <a:bodyPr wrap="square" lIns="0" tIns="27432" rIns="0" bIns="27432" anchor="ctr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300" b="1">
                <a:solidFill>
                  <a:srgbClr val="102A43"/>
                </a:solidFill>
                <a:latin typeface="Arial"/>
              </a:rPr>
              <a:t>Mature research base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00" b="0">
                <a:solidFill>
                  <a:srgbClr val="4B5563"/>
                </a:solidFill>
                <a:latin typeface="Arial"/>
              </a:rPr>
              <a:t>ASVspoof-trained detectors already exceed 95%; ECAPA speaker models are open source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411480" y="3063240"/>
            <a:ext cx="5440680" cy="1143000"/>
          </a:xfrm>
          <a:prstGeom prst="roundRect">
            <a:avLst>
              <a:gd name="adj" fmla="val 14000"/>
            </a:avLst>
          </a:prstGeom>
          <a:solidFill>
            <a:srgbClr val="F1F5FA"/>
          </a:solidFill>
          <a:ln w="15875">
            <a:solidFill>
              <a:srgbClr val="E4EC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endParaRPr/>
          </a:p>
        </p:txBody>
      </p:sp>
      <p:sp>
        <p:nvSpPr>
          <p:cNvPr id="17415" name="Oval 17414"/>
          <p:cNvSpPr/>
          <p:nvPr/>
        </p:nvSpPr>
        <p:spPr>
          <a:xfrm>
            <a:off x="649224" y="3429000"/>
            <a:ext cx="420624" cy="420624"/>
          </a:xfrm>
          <a:prstGeom prst="ellipse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1234440" y="3246120"/>
            <a:ext cx="4389120" cy="822960"/>
          </a:xfrm>
          <a:prstGeom prst="rect">
            <a:avLst/>
          </a:prstGeom>
          <a:noFill/>
        </p:spPr>
        <p:txBody>
          <a:bodyPr wrap="square" lIns="0" tIns="27432" rIns="0" bIns="27432" anchor="ctr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300" b="1">
                <a:solidFill>
                  <a:srgbClr val="102A43"/>
                </a:solidFill>
                <a:latin typeface="Arial"/>
              </a:rPr>
              <a:t>Open datasets ready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00" b="0">
                <a:solidFill>
                  <a:srgbClr val="4B5563"/>
                </a:solidFill>
                <a:latin typeface="Arial"/>
              </a:rPr>
              <a:t>ASVspoof 2019/2021, In-the-Wild deepfakes, plus self-made Indic clones via open TTS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411480" y="4462272"/>
            <a:ext cx="5440680" cy="1143000"/>
          </a:xfrm>
          <a:prstGeom prst="roundRect">
            <a:avLst>
              <a:gd name="adj" fmla="val 14000"/>
            </a:avLst>
          </a:prstGeom>
          <a:solidFill>
            <a:srgbClr val="F1F5FA"/>
          </a:solidFill>
          <a:ln w="15875">
            <a:solidFill>
              <a:srgbClr val="E4EC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endParaRPr/>
          </a:p>
        </p:txBody>
      </p:sp>
      <p:sp>
        <p:nvSpPr>
          <p:cNvPr id="17418" name="Oval 17417"/>
          <p:cNvSpPr/>
          <p:nvPr/>
        </p:nvSpPr>
        <p:spPr>
          <a:xfrm>
            <a:off x="649224" y="4828032"/>
            <a:ext cx="420624" cy="420624"/>
          </a:xfrm>
          <a:prstGeom prst="ellipse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1234440" y="4645152"/>
            <a:ext cx="4389120" cy="822960"/>
          </a:xfrm>
          <a:prstGeom prst="rect">
            <a:avLst/>
          </a:prstGeom>
          <a:noFill/>
        </p:spPr>
        <p:txBody>
          <a:bodyPr wrap="square" lIns="0" tIns="27432" rIns="0" bIns="27432" anchor="ctr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1300" b="1">
                <a:solidFill>
                  <a:srgbClr val="102A43"/>
                </a:solidFill>
                <a:latin typeface="Arial"/>
              </a:rPr>
              <a:t>Demo-able on day one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00" b="0">
                <a:solidFill>
                  <a:srgbClr val="4B5563"/>
                </a:solidFill>
                <a:latin typeface="Arial"/>
              </a:rPr>
              <a:t>Genuine CEO vs. cloned CEO vs. clone + fraud request, scored live on a dashboard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6309360" y="1261872"/>
            <a:ext cx="5394960" cy="237744"/>
          </a:xfrm>
          <a:prstGeom prst="rect">
            <a:avLst/>
          </a:prstGeom>
          <a:noFill/>
        </p:spPr>
        <p:txBody>
          <a:bodyPr wrap="square" lIns="0" tIns="27432" rIns="0" bIns="27432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50" b="1">
                <a:solidFill>
                  <a:srgbClr val="1D4E89"/>
                </a:solidFill>
                <a:latin typeface="Arial"/>
              </a:rPr>
              <a:t>RISKS → MITIGATION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6309360" y="1664208"/>
            <a:ext cx="5468112" cy="960120"/>
          </a:xfrm>
          <a:prstGeom prst="roundRect">
            <a:avLst>
              <a:gd name="adj" fmla="val 14000"/>
            </a:avLst>
          </a:prstGeom>
          <a:solidFill>
            <a:srgbClr val="E4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7432" rIns="54864" bIns="27432" rtlCol="0" anchor="ctr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250" b="1">
                <a:solidFill>
                  <a:srgbClr val="B91C1C"/>
                </a:solidFill>
                <a:latin typeface="Arial"/>
              </a:rPr>
              <a:t>Newer cloning models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00" b="0">
                <a:solidFill>
                  <a:srgbClr val="1F2937"/>
                </a:solidFill>
                <a:latin typeface="Arial"/>
              </a:rPr>
              <a:t>→  Four signals plus challenge-response, not one detector; continual retraining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6309360" y="2779776"/>
            <a:ext cx="5468112" cy="960120"/>
          </a:xfrm>
          <a:prstGeom prst="roundRect">
            <a:avLst>
              <a:gd name="adj" fmla="val 14000"/>
            </a:avLst>
          </a:prstGeom>
          <a:solidFill>
            <a:srgbClr val="E4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7432" rIns="54864" bIns="27432" rtlCol="0" anchor="ctr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250" b="1">
                <a:solidFill>
                  <a:srgbClr val="B91C1C"/>
                </a:solidFill>
                <a:latin typeface="Arial"/>
              </a:rPr>
              <a:t>Latency vs accuracy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00" b="0">
                <a:solidFill>
                  <a:srgbClr val="1F2937"/>
                </a:solidFill>
                <a:latin typeface="Arial"/>
              </a:rPr>
              <a:t>→  Cheap artefact filter first, heavy models only on flagged windows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6309360" y="3895344"/>
            <a:ext cx="5468112" cy="960120"/>
          </a:xfrm>
          <a:prstGeom prst="roundRect">
            <a:avLst>
              <a:gd name="adj" fmla="val 14000"/>
            </a:avLst>
          </a:prstGeom>
          <a:solidFill>
            <a:srgbClr val="E4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7432" rIns="54864" bIns="27432" rtlCol="0" anchor="ctr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250" b="1">
                <a:solidFill>
                  <a:srgbClr val="B91C1C"/>
                </a:solidFill>
                <a:latin typeface="Arial"/>
              </a:rPr>
              <a:t>False positives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00" b="0">
                <a:solidFill>
                  <a:srgbClr val="1F2937"/>
                </a:solidFill>
                <a:latin typeface="Arial"/>
              </a:rPr>
              <a:t>→  Tunable thresholds, step-up verification, human escalation, no auto-block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6309360" y="5010912"/>
            <a:ext cx="5468112" cy="960120"/>
          </a:xfrm>
          <a:prstGeom prst="roundRect">
            <a:avLst>
              <a:gd name="adj" fmla="val 14000"/>
            </a:avLst>
          </a:prstGeom>
          <a:solidFill>
            <a:srgbClr val="E4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7432" rIns="54864" bIns="27432" rtlCol="0" anchor="ctr"/>
          <a:lstStyle/>
          <a:p>
            <a:pPr algn="l">
              <a:lnSpc>
                <a:spcPct val="95000"/>
              </a:lnSpc>
              <a:spcAft>
                <a:spcPts val="300"/>
              </a:spcAft>
            </a:pPr>
            <a:r>
              <a:rPr sz="1250" b="1">
                <a:solidFill>
                  <a:srgbClr val="B91C1C"/>
                </a:solidFill>
                <a:latin typeface="Arial"/>
              </a:rPr>
              <a:t>Accents and languages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00" b="0">
                <a:solidFill>
                  <a:srgbClr val="1F2937"/>
                </a:solidFill>
                <a:latin typeface="Arial"/>
              </a:rPr>
              <a:t>→  Language-agnostic features, fine-tuned on Indic-accented speech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102A43"/>
                </a:solidFill>
                <a:latin typeface="Arial"/>
              </a:rPr>
              <a:t>NoNsEnSe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11480" y="1261872"/>
            <a:ext cx="4572000" cy="237744"/>
          </a:xfrm>
          <a:prstGeom prst="rect">
            <a:avLst/>
          </a:prstGeom>
          <a:noFill/>
        </p:spPr>
        <p:txBody>
          <a:bodyPr wrap="square" lIns="0" tIns="27432" rIns="0" bIns="27432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50" b="1">
                <a:solidFill>
                  <a:srgbClr val="1D4E89"/>
                </a:solidFill>
                <a:latin typeface="Arial"/>
              </a:rPr>
              <a:t>BY THE NUMBERS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411480" y="1609344"/>
            <a:ext cx="2697480" cy="1371600"/>
          </a:xfrm>
          <a:prstGeom prst="roundRect">
            <a:avLst>
              <a:gd name="adj" fmla="val 14000"/>
            </a:avLst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95000"/>
              </a:lnSpc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4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D9E2EC"/>
                </a:solidFill>
                <a:latin typeface="Arial"/>
              </a:rPr>
              <a:t>independent risk signals fused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3300984" y="1609344"/>
            <a:ext cx="2697480" cy="1371600"/>
          </a:xfrm>
          <a:prstGeom prst="roundRect">
            <a:avLst>
              <a:gd name="adj" fmla="val 14000"/>
            </a:avLst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95000"/>
              </a:lnSpc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&lt;0.5 s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D9E2EC"/>
                </a:solidFill>
                <a:latin typeface="Arial"/>
              </a:rPr>
              <a:t>risk update per audio window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6190488" y="1609344"/>
            <a:ext cx="2697480" cy="1371600"/>
          </a:xfrm>
          <a:prstGeom prst="roundRect">
            <a:avLst>
              <a:gd name="adj" fmla="val 14000"/>
            </a:avLst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95000"/>
              </a:lnSpc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&gt;95%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D9E2EC"/>
                </a:solidFill>
                <a:latin typeface="Arial"/>
              </a:rPr>
              <a:t>spoof accuracy on ASVspoof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9079992" y="1609344"/>
            <a:ext cx="2697480" cy="1371600"/>
          </a:xfrm>
          <a:prstGeom prst="roundRect">
            <a:avLst>
              <a:gd name="adj" fmla="val 14000"/>
            </a:avLst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95000"/>
              </a:lnSpc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Arial"/>
              </a:rPr>
              <a:t>0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050" b="0">
                <a:solidFill>
                  <a:srgbClr val="D9E2EC"/>
                </a:solidFill>
                <a:latin typeface="Arial"/>
              </a:rPr>
              <a:t>raw voice recordings retained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411480" y="3246120"/>
            <a:ext cx="4572000" cy="237744"/>
          </a:xfrm>
          <a:prstGeom prst="rect">
            <a:avLst/>
          </a:prstGeom>
          <a:noFill/>
        </p:spPr>
        <p:txBody>
          <a:bodyPr wrap="square" lIns="0" tIns="27432" rIns="0" bIns="27432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50" b="1">
                <a:solidFill>
                  <a:srgbClr val="1D4E89"/>
                </a:solidFill>
                <a:latin typeface="Arial"/>
              </a:rPr>
              <a:t>WHAT CHANGES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411480" y="3602736"/>
            <a:ext cx="2697480" cy="1572768"/>
          </a:xfrm>
          <a:prstGeom prst="roundRect">
            <a:avLst>
              <a:gd name="adj" fmla="val 14000"/>
            </a:avLst>
          </a:prstGeom>
          <a:solidFill>
            <a:srgbClr val="F1F5FA"/>
          </a:solidFill>
          <a:ln w="15875">
            <a:solidFill>
              <a:srgbClr val="E4EC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82880" rIns="146304" bIns="27432" rtlCol="0" anchor="t"/>
          <a:lstStyle/>
          <a:p>
            <a:pPr algn="l">
              <a:lnSpc>
                <a:spcPct val="95000"/>
              </a:lnSpc>
              <a:spcAft>
                <a:spcPts val="700"/>
              </a:spcAft>
            </a:pPr>
            <a:r>
              <a:rPr sz="1250" b="1">
                <a:solidFill>
                  <a:srgbClr val="1D4E89"/>
                </a:solidFill>
                <a:latin typeface="Arial"/>
              </a:rPr>
              <a:t>SECURITY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Arial"/>
              </a:rPr>
              <a:t>A reusable voice-fraud firewall for banks, enterprises and telcos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3300984" y="3602736"/>
            <a:ext cx="2697480" cy="1572768"/>
          </a:xfrm>
          <a:prstGeom prst="roundRect">
            <a:avLst>
              <a:gd name="adj" fmla="val 14000"/>
            </a:avLst>
          </a:prstGeom>
          <a:solidFill>
            <a:srgbClr val="F1F5FA"/>
          </a:solidFill>
          <a:ln w="15875">
            <a:solidFill>
              <a:srgbClr val="E4EC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82880" rIns="146304" bIns="27432" rtlCol="0" anchor="t"/>
          <a:lstStyle/>
          <a:p>
            <a:pPr algn="l">
              <a:lnSpc>
                <a:spcPct val="95000"/>
              </a:lnSpc>
              <a:spcAft>
                <a:spcPts val="700"/>
              </a:spcAft>
            </a:pPr>
            <a:r>
              <a:rPr sz="1250" b="1">
                <a:solidFill>
                  <a:srgbClr val="1D4E89"/>
                </a:solidFill>
                <a:latin typeface="Arial"/>
              </a:rPr>
              <a:t>ECONOMIC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Arial"/>
              </a:rPr>
              <a:t>Stops CEO/CFO-fraud transfers before approval, not after investigation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6190488" y="3602736"/>
            <a:ext cx="2697480" cy="1572768"/>
          </a:xfrm>
          <a:prstGeom prst="roundRect">
            <a:avLst>
              <a:gd name="adj" fmla="val 14000"/>
            </a:avLst>
          </a:prstGeom>
          <a:solidFill>
            <a:srgbClr val="F1F5FA"/>
          </a:solidFill>
          <a:ln w="15875">
            <a:solidFill>
              <a:srgbClr val="E4EC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82880" rIns="146304" bIns="27432" rtlCol="0" anchor="t"/>
          <a:lstStyle/>
          <a:p>
            <a:pPr algn="l">
              <a:lnSpc>
                <a:spcPct val="95000"/>
              </a:lnSpc>
              <a:spcAft>
                <a:spcPts val="700"/>
              </a:spcAft>
            </a:pPr>
            <a:r>
              <a:rPr sz="1250" b="1">
                <a:solidFill>
                  <a:srgbClr val="1D4E89"/>
                </a:solidFill>
                <a:latin typeface="Arial"/>
              </a:rPr>
              <a:t>SOCIAL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Arial"/>
              </a:rPr>
              <a:t>Protects staff and senior citizens from AI-driven social engineering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9079992" y="3602736"/>
            <a:ext cx="2697480" cy="1572768"/>
          </a:xfrm>
          <a:prstGeom prst="roundRect">
            <a:avLst>
              <a:gd name="adj" fmla="val 14000"/>
            </a:avLst>
          </a:prstGeom>
          <a:solidFill>
            <a:srgbClr val="F1F5FA"/>
          </a:solidFill>
          <a:ln w="15875">
            <a:solidFill>
              <a:srgbClr val="E4EC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82880" rIns="146304" bIns="27432" rtlCol="0" anchor="t"/>
          <a:lstStyle/>
          <a:p>
            <a:pPr algn="l">
              <a:lnSpc>
                <a:spcPct val="95000"/>
              </a:lnSpc>
              <a:spcAft>
                <a:spcPts val="700"/>
              </a:spcAft>
            </a:pPr>
            <a:r>
              <a:rPr sz="1250" b="1">
                <a:solidFill>
                  <a:srgbClr val="1D4E89"/>
                </a:solidFill>
                <a:latin typeface="Arial"/>
              </a:rPr>
              <a:t>STRATEGIC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Arial"/>
              </a:rPr>
              <a:t>Explainable, privacy-preserving layer aligned with DPDP and national cyber goals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411480" y="5449824"/>
            <a:ext cx="11365992" cy="640080"/>
          </a:xfrm>
          <a:prstGeom prst="roundRect">
            <a:avLst>
              <a:gd name="adj" fmla="val 22000"/>
            </a:avLst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Arial"/>
              </a:rPr>
              <a:t>Voice is never the only key: every high-risk request is verified on an independent channel before the money moves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102A43"/>
                </a:solidFill>
                <a:latin typeface="Arial"/>
              </a:rPr>
              <a:t>NoNsEnSe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11480" y="1261872"/>
            <a:ext cx="5486400" cy="237744"/>
          </a:xfrm>
          <a:prstGeom prst="rect">
            <a:avLst/>
          </a:prstGeom>
          <a:noFill/>
        </p:spPr>
        <p:txBody>
          <a:bodyPr wrap="square" lIns="0" tIns="27432" rIns="0" bIns="27432" anchor="t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150" b="1">
                <a:solidFill>
                  <a:srgbClr val="1D4E89"/>
                </a:solidFill>
                <a:latin typeface="Arial"/>
              </a:rPr>
              <a:t>KEY SOURCES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411480" y="1645920"/>
            <a:ext cx="5541264" cy="1115568"/>
          </a:xfrm>
          <a:prstGeom prst="roundRect">
            <a:avLst>
              <a:gd name="adj" fmla="val 14000"/>
            </a:avLst>
          </a:prstGeom>
          <a:solidFill>
            <a:srgbClr val="F1F5FA"/>
          </a:solidFill>
          <a:ln w="15875">
            <a:solidFill>
              <a:srgbClr val="E4EC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endParaRPr/>
          </a:p>
        </p:txBody>
      </p:sp>
      <p:sp>
        <p:nvSpPr>
          <p:cNvPr id="17412" name="Oval 17411"/>
          <p:cNvSpPr/>
          <p:nvPr/>
        </p:nvSpPr>
        <p:spPr>
          <a:xfrm>
            <a:off x="630936" y="1993392"/>
            <a:ext cx="420624" cy="420624"/>
          </a:xfrm>
          <a:prstGeom prst="ellipse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1216152" y="1810512"/>
            <a:ext cx="4535423" cy="786384"/>
          </a:xfrm>
          <a:prstGeom prst="rect">
            <a:avLst/>
          </a:prstGeom>
          <a:noFill/>
        </p:spPr>
        <p:txBody>
          <a:bodyPr wrap="square" lIns="0" tIns="27432" rIns="0" bIns="27432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Arial"/>
              </a:rPr>
              <a:t>ASVspoof 2019 / 2021 challenge datasets and evaluation plans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6236207" y="1645920"/>
            <a:ext cx="5541264" cy="1115568"/>
          </a:xfrm>
          <a:prstGeom prst="roundRect">
            <a:avLst>
              <a:gd name="adj" fmla="val 14000"/>
            </a:avLst>
          </a:prstGeom>
          <a:solidFill>
            <a:srgbClr val="F1F5FA"/>
          </a:solidFill>
          <a:ln w="15875">
            <a:solidFill>
              <a:srgbClr val="E4EC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endParaRPr/>
          </a:p>
        </p:txBody>
      </p:sp>
      <p:sp>
        <p:nvSpPr>
          <p:cNvPr id="17415" name="Oval 17414"/>
          <p:cNvSpPr/>
          <p:nvPr/>
        </p:nvSpPr>
        <p:spPr>
          <a:xfrm>
            <a:off x="6455664" y="1993392"/>
            <a:ext cx="420624" cy="420624"/>
          </a:xfrm>
          <a:prstGeom prst="ellipse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7040879" y="1810512"/>
            <a:ext cx="4535423" cy="786384"/>
          </a:xfrm>
          <a:prstGeom prst="rect">
            <a:avLst/>
          </a:prstGeom>
          <a:noFill/>
        </p:spPr>
        <p:txBody>
          <a:bodyPr wrap="square" lIns="0" tIns="27432" rIns="0" bIns="27432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Arial"/>
              </a:rPr>
              <a:t>ECAPA-TDNN speaker verification (Desplanques et al., 2020)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411480" y="3072384"/>
            <a:ext cx="5541264" cy="1115568"/>
          </a:xfrm>
          <a:prstGeom prst="roundRect">
            <a:avLst>
              <a:gd name="adj" fmla="val 14000"/>
            </a:avLst>
          </a:prstGeom>
          <a:solidFill>
            <a:srgbClr val="F1F5FA"/>
          </a:solidFill>
          <a:ln w="15875">
            <a:solidFill>
              <a:srgbClr val="E4EC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endParaRPr/>
          </a:p>
        </p:txBody>
      </p:sp>
      <p:sp>
        <p:nvSpPr>
          <p:cNvPr id="17418" name="Oval 17417"/>
          <p:cNvSpPr/>
          <p:nvPr/>
        </p:nvSpPr>
        <p:spPr>
          <a:xfrm>
            <a:off x="630936" y="3419856"/>
            <a:ext cx="420624" cy="420624"/>
          </a:xfrm>
          <a:prstGeom prst="ellipse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1216152" y="3236976"/>
            <a:ext cx="4535423" cy="786384"/>
          </a:xfrm>
          <a:prstGeom prst="rect">
            <a:avLst/>
          </a:prstGeom>
          <a:noFill/>
        </p:spPr>
        <p:txBody>
          <a:bodyPr wrap="square" lIns="0" tIns="27432" rIns="0" bIns="27432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Arial"/>
              </a:rPr>
              <a:t>wav2vec 2.0 and WavLM self-supervised speech representations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6236207" y="3072384"/>
            <a:ext cx="5541264" cy="1115568"/>
          </a:xfrm>
          <a:prstGeom prst="roundRect">
            <a:avLst>
              <a:gd name="adj" fmla="val 14000"/>
            </a:avLst>
          </a:prstGeom>
          <a:solidFill>
            <a:srgbClr val="F1F5FA"/>
          </a:solidFill>
          <a:ln w="15875">
            <a:solidFill>
              <a:srgbClr val="E4EC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endParaRPr/>
          </a:p>
        </p:txBody>
      </p:sp>
      <p:sp>
        <p:nvSpPr>
          <p:cNvPr id="17421" name="Oval 17420"/>
          <p:cNvSpPr/>
          <p:nvPr/>
        </p:nvSpPr>
        <p:spPr>
          <a:xfrm>
            <a:off x="6455664" y="3419856"/>
            <a:ext cx="420624" cy="420624"/>
          </a:xfrm>
          <a:prstGeom prst="ellipse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7040879" y="3236976"/>
            <a:ext cx="4535423" cy="786384"/>
          </a:xfrm>
          <a:prstGeom prst="rect">
            <a:avLst/>
          </a:prstGeom>
          <a:noFill/>
        </p:spPr>
        <p:txBody>
          <a:bodyPr wrap="square" lIns="0" tIns="27432" rIns="0" bIns="27432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Arial"/>
              </a:rPr>
              <a:t>In-the-Wild audio deepfake benchmark (Müller et al., 2022)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411480" y="4498848"/>
            <a:ext cx="5541264" cy="1115568"/>
          </a:xfrm>
          <a:prstGeom prst="roundRect">
            <a:avLst>
              <a:gd name="adj" fmla="val 14000"/>
            </a:avLst>
          </a:prstGeom>
          <a:solidFill>
            <a:srgbClr val="F1F5FA"/>
          </a:solidFill>
          <a:ln w="15875">
            <a:solidFill>
              <a:srgbClr val="E4EC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endParaRPr/>
          </a:p>
        </p:txBody>
      </p:sp>
      <p:sp>
        <p:nvSpPr>
          <p:cNvPr id="17424" name="Oval 17423"/>
          <p:cNvSpPr/>
          <p:nvPr/>
        </p:nvSpPr>
        <p:spPr>
          <a:xfrm>
            <a:off x="630936" y="4846320"/>
            <a:ext cx="420624" cy="420624"/>
          </a:xfrm>
          <a:prstGeom prst="ellipse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1216152" y="4663440"/>
            <a:ext cx="4535423" cy="786384"/>
          </a:xfrm>
          <a:prstGeom prst="rect">
            <a:avLst/>
          </a:prstGeom>
          <a:noFill/>
        </p:spPr>
        <p:txBody>
          <a:bodyPr wrap="square" lIns="0" tIns="27432" rIns="0" bIns="27432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Arial"/>
              </a:rPr>
              <a:t>RBI and I4C advisories on voice-phishing and AI impersonation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6236207" y="4498848"/>
            <a:ext cx="5541264" cy="1115568"/>
          </a:xfrm>
          <a:prstGeom prst="roundRect">
            <a:avLst>
              <a:gd name="adj" fmla="val 14000"/>
            </a:avLst>
          </a:prstGeom>
          <a:solidFill>
            <a:srgbClr val="F1F5FA"/>
          </a:solidFill>
          <a:ln w="15875">
            <a:solidFill>
              <a:srgbClr val="E4EC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endParaRPr/>
          </a:p>
        </p:txBody>
      </p:sp>
      <p:sp>
        <p:nvSpPr>
          <p:cNvPr id="17427" name="Oval 17426"/>
          <p:cNvSpPr/>
          <p:nvPr/>
        </p:nvSpPr>
        <p:spPr>
          <a:xfrm>
            <a:off x="6455664" y="4846320"/>
            <a:ext cx="420624" cy="420624"/>
          </a:xfrm>
          <a:prstGeom prst="ellipse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27432" rIns="0" bIns="27432" rtlCol="0" anchor="ctr"/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7040879" y="4663440"/>
            <a:ext cx="4535423" cy="786384"/>
          </a:xfrm>
          <a:prstGeom prst="rect">
            <a:avLst/>
          </a:prstGeom>
          <a:noFill/>
        </p:spPr>
        <p:txBody>
          <a:bodyPr wrap="square" lIns="0" tIns="27432" rIns="0" bIns="27432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Arial"/>
              </a:rPr>
              <a:t>Digital Personal Data Protection Act, 2023 (India)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711</Words>
  <Application>Microsoft Macintosh PowerPoint</Application>
  <PresentationFormat>Widescreen</PresentationFormat>
  <Paragraphs>147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V-SHIELD Real-time voice impersonation &amp; fraud-risk firewall for calls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DAKSH SINGH</cp:lastModifiedBy>
  <cp:revision>148</cp:revision>
  <dcterms:created xsi:type="dcterms:W3CDTF">2013-12-12T18:46:50Z</dcterms:created>
  <dcterms:modified xsi:type="dcterms:W3CDTF">2026-09-24T18:05:28Z</dcterms:modified>
  <cp:category/>
</cp:coreProperties>
</file>